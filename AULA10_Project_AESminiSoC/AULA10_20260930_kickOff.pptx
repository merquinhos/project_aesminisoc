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670550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vUreP5VyH8ra8HjOrDjKv3RjO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34846C-CF54-4C4B-B4AD-A65EC48EBEC3}">
  <a:tblStyle styleId="{1434846C-CF54-4C4B-B4AD-A65EC48EBEC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d3beabc810_0_3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d3beabc810_0_3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h2dbcfe40c0a92b58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h2dbcfe40c0a92b58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h2dbcfe40c0a92b58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h2dbcfe40c0a92b58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h2dbcfe40c0a92b58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h2dbcfe40c0a92b58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6aafa1590_0_30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" name="Google Shape;57;g3f6aafa1590_0_30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7877d611d_0_4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g3f7877d611d_0_4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0035" lvl="0" marL="45720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indent="-314325" lvl="1" marL="91440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ts val="1350"/>
              <a:buChar char="−"/>
              <a:defRPr/>
            </a:lvl2pPr>
            <a:lvl3pPr indent="-280035" lvl="2" marL="137160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indent="-314325" lvl="3" marL="182880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SzPts val="1350"/>
              <a:buChar char="−"/>
              <a:defRPr/>
            </a:lvl4pPr>
            <a:lvl5pPr indent="-280035" lvl="4" marL="22860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indent="-280035" lvl="5" marL="27432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indent="-280035" lvl="6" marL="320040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5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" name="Google Shape;16;p5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drão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SzPts val="81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SzPts val="1350"/>
              <a:buChar char="−"/>
              <a:defRPr/>
            </a:lvl2pPr>
            <a:lvl3pPr lvl="2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SzPts val="810"/>
              <a:buChar char="●"/>
              <a:defRPr/>
            </a:lvl3pPr>
            <a:lvl4pPr lvl="3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SzPts val="1350"/>
              <a:buChar char="−"/>
              <a:defRPr/>
            </a:lvl4pPr>
            <a:lvl5pPr lvl="4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5pPr>
            <a:lvl6pPr lvl="5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6pPr>
            <a:lvl7pPr lvl="6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SzPts val="81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6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7180" lvl="2" marL="1371600" marR="0" rtl="0" algn="l">
              <a:lnSpc>
                <a:spcPct val="100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hyperlink" Target="http://draw.io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title"/>
          </p:nvPr>
        </p:nvSpPr>
        <p:spPr>
          <a:xfrm>
            <a:off x="360000" y="1800000"/>
            <a:ext cx="63000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pt-BR"/>
              <a:t>Aula 10: 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pt-BR">
                <a:solidFill>
                  <a:schemeClr val="dk1"/>
                </a:solidFill>
              </a:rPr>
              <a:t>Kick Off</a:t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300">
                <a:solidFill>
                  <a:schemeClr val="dk1"/>
                </a:solidFill>
                <a:highlight>
                  <a:srgbClr val="FFFF00"/>
                </a:highlight>
              </a:rPr>
              <a:t>MiniSoC AES v1.0.0</a:t>
            </a:r>
            <a:endParaRPr sz="33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pt-BR" sz="3000"/>
              <a:t>30 Sep 2026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d3beabc810_0_349"/>
          <p:cNvSpPr txBox="1"/>
          <p:nvPr>
            <p:ph type="title"/>
          </p:nvPr>
        </p:nvSpPr>
        <p:spPr>
          <a:xfrm>
            <a:off x="504000" y="226080"/>
            <a:ext cx="907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Agenda</a:t>
            </a:r>
            <a:endParaRPr b="1"/>
          </a:p>
        </p:txBody>
      </p:sp>
      <p:sp>
        <p:nvSpPr>
          <p:cNvPr id="33" name="Google Shape;33;g3d3beabc810_0_349"/>
          <p:cNvSpPr txBox="1"/>
          <p:nvPr>
            <p:ph idx="1" type="body"/>
          </p:nvPr>
        </p:nvSpPr>
        <p:spPr>
          <a:xfrm>
            <a:off x="315375" y="1282325"/>
            <a:ext cx="93798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Plano de Projeto (ver Doc)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  <a:highlight>
                  <a:srgbClr val="FFFFFF"/>
                </a:highlight>
              </a:rPr>
              <a:t>BlockGuide - MiniSoC AES v1.0.0 (ver Doc)</a:t>
            </a:r>
            <a:endParaRPr b="1"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</a:pPr>
            <a:r>
              <a:rPr lang="pt-BR" sz="1400">
                <a:solidFill>
                  <a:schemeClr val="dk1"/>
                </a:solidFill>
                <a:highlight>
                  <a:srgbClr val="FFFFFF"/>
                </a:highlight>
              </a:rPr>
              <a:t>Arch.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</a:pPr>
            <a:r>
              <a:rPr lang="pt-BR" sz="1400">
                <a:solidFill>
                  <a:schemeClr val="dk1"/>
                </a:solidFill>
                <a:highlight>
                  <a:srgbClr val="FFFFFF"/>
                </a:highlight>
              </a:rPr>
              <a:t>Funcionamento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−"/>
            </a:pPr>
            <a:r>
              <a:rPr lang="pt-BR" sz="1400">
                <a:solidFill>
                  <a:schemeClr val="dk1"/>
                </a:solidFill>
                <a:highlight>
                  <a:srgbClr val="FFFFFF"/>
                </a:highlight>
              </a:rPr>
              <a:t>Constraints/Regras</a:t>
            </a:r>
            <a:endParaRPr sz="14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Problema de Verif / Trabalho do Verificador (slides)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Arquitetura de Testbench esperada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Reference Model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Documentação Obrigatória (ver Docs)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Acompanhamento</a:t>
            </a:r>
            <a:endParaRPr b="1"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i="1" lang="pt-BR" sz="2000">
                <a:solidFill>
                  <a:schemeClr val="dk1"/>
                </a:solidFill>
                <a:highlight>
                  <a:srgbClr val="FFFFFF"/>
                </a:highlight>
              </a:rPr>
              <a:t>Job fair</a:t>
            </a:r>
            <a:endParaRPr b="1" i="1"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h2dbcfe40c0a92b58_0_0"/>
          <p:cNvSpPr txBox="1"/>
          <p:nvPr>
            <p:ph type="title"/>
          </p:nvPr>
        </p:nvSpPr>
        <p:spPr>
          <a:xfrm>
            <a:off x="504000" y="226080"/>
            <a:ext cx="907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Problema de Verif</a:t>
            </a:r>
            <a:endParaRPr b="1"/>
          </a:p>
        </p:txBody>
      </p:sp>
      <p:graphicFrame>
        <p:nvGraphicFramePr>
          <p:cNvPr id="39" name="Google Shape;39;h2dbcfe40c0a92b58_0_0"/>
          <p:cNvGraphicFramePr/>
          <p:nvPr/>
        </p:nvGraphicFramePr>
        <p:xfrm>
          <a:off x="123550" y="1328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{1434846C-CF54-4C4B-B4AD-A65EC48EBEC3}</a:tableStyleId>
              </a:tblPr>
              <a:tblGrid>
                <a:gridCol w="1114425"/>
                <a:gridCol w="8610600"/>
              </a:tblGrid>
              <a:tr h="515600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chemeClr val="dk1"/>
                          </a:solidFill>
                        </a:rPr>
                        <a:t>Elemento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>
                          <a:solidFill>
                            <a:schemeClr val="dk1"/>
                          </a:solidFill>
                        </a:rPr>
                        <a:t>Perguntas que o verificador deve fazer</a:t>
                      </a:r>
                      <a:endParaRPr b="1" sz="13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8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RESET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O sistema realmente volta ao estado inicial? O AES fica parado? O que acontece se resetar durante uma operação? O AES só sai do reset quando o clock está válido?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PLL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enable funciona? Cada divisor gera a frequência esperada? locked aparece corretamente? O sistema começa a operar antes de locked?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8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SPI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Escrita e leitura funcionam? Os registradores corretos são acessados? Um START realmente inicia o AES? MEM_SEL_AES realmente troca o dono da memória?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8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MEMORY DATA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Consigo escrever e ler corretamente? Endereço e dado são preservados? O lado externo perde acesso quando o AES recebe ownership?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AES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Para uma determinada key + plaintext + mode, o resultado é correto? Encrypt/decrypt funcionam? Um bloco? Vários blocos?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857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000">
                          <a:solidFill>
                            <a:schemeClr val="dk1"/>
                          </a:solidFill>
                        </a:rPr>
                        <a:t>Integração</a:t>
                      </a:r>
                      <a:endParaRPr b="1"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000">
                          <a:solidFill>
                            <a:schemeClr val="dk1"/>
                          </a:solidFill>
                        </a:rPr>
                        <a:t>Mesmo que cada bloco funcione isoladamente, eles funcionam juntos na sequência correta?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h2dbcfe40c0a92b58_0_8"/>
          <p:cNvSpPr txBox="1"/>
          <p:nvPr>
            <p:ph type="title"/>
          </p:nvPr>
        </p:nvSpPr>
        <p:spPr>
          <a:xfrm>
            <a:off x="504000" y="226080"/>
            <a:ext cx="907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Arquitetura TB Esperada</a:t>
            </a:r>
            <a:endParaRPr b="1"/>
          </a:p>
        </p:txBody>
      </p:sp>
      <p:pic>
        <p:nvPicPr>
          <p:cNvPr id="45" name="Google Shape;45;h2dbcfe40c0a92b58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75" y="1084755"/>
            <a:ext cx="2835076" cy="446227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h2dbcfe40c0a92b58_0_8"/>
          <p:cNvSpPr txBox="1"/>
          <p:nvPr>
            <p:ph idx="1" type="body"/>
          </p:nvPr>
        </p:nvSpPr>
        <p:spPr>
          <a:xfrm>
            <a:off x="3482100" y="1275109"/>
            <a:ext cx="6213000" cy="39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Cada interface tem um VIP/Agent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pt-BR" sz="1600">
                <a:solidFill>
                  <a:schemeClr val="dk1"/>
                </a:solidFill>
              </a:rPr>
              <a:t>Usar o template </a:t>
            </a:r>
            <a:r>
              <a:rPr b="1" lang="pt-BR" sz="1600" u="sng">
                <a:solidFill>
                  <a:schemeClr val="hlink"/>
                </a:solidFill>
                <a:hlinkClick r:id="rId4"/>
              </a:rPr>
              <a:t>draw.io</a:t>
            </a:r>
            <a:r>
              <a:rPr b="1" lang="pt-BR" sz="1600">
                <a:solidFill>
                  <a:schemeClr val="dk1"/>
                </a:solidFill>
              </a:rPr>
              <a:t> p/ desenhar arquitetura do teste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47" name="Google Shape;47;h2dbcfe40c0a92b58_0_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68324" y="2156074"/>
            <a:ext cx="4040575" cy="281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h2dbcfe40c0a92b58_0_16"/>
          <p:cNvSpPr txBox="1"/>
          <p:nvPr>
            <p:ph type="title"/>
          </p:nvPr>
        </p:nvSpPr>
        <p:spPr>
          <a:xfrm>
            <a:off x="504000" y="226080"/>
            <a:ext cx="907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Reference Model</a:t>
            </a:r>
            <a:endParaRPr b="1"/>
          </a:p>
        </p:txBody>
      </p:sp>
      <p:pic>
        <p:nvPicPr>
          <p:cNvPr id="53" name="Google Shape;53;h2dbcfe40c0a92b58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875" y="1084755"/>
            <a:ext cx="2835076" cy="4462271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h2dbcfe40c0a92b58_0_16"/>
          <p:cNvSpPr/>
          <p:nvPr/>
        </p:nvSpPr>
        <p:spPr>
          <a:xfrm>
            <a:off x="718425" y="3859825"/>
            <a:ext cx="1566000" cy="11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6aafa1590_0_302"/>
          <p:cNvSpPr txBox="1"/>
          <p:nvPr>
            <p:ph type="title"/>
          </p:nvPr>
        </p:nvSpPr>
        <p:spPr>
          <a:xfrm>
            <a:off x="360000" y="1800000"/>
            <a:ext cx="827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 sz="2800">
                <a:solidFill>
                  <a:schemeClr val="dk1"/>
                </a:solidFill>
              </a:rPr>
              <a:t>TKS</a:t>
            </a:r>
            <a:endParaRPr sz="2800">
              <a:solidFill>
                <a:schemeClr val="dk1"/>
              </a:solidFill>
              <a:highlight>
                <a:srgbClr val="FCE5CD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7877d611d_0_459"/>
          <p:cNvSpPr txBox="1"/>
          <p:nvPr>
            <p:ph idx="1" type="body"/>
          </p:nvPr>
        </p:nvSpPr>
        <p:spPr>
          <a:xfrm>
            <a:off x="201400" y="1078800"/>
            <a:ext cx="96738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TEXT</a:t>
            </a:r>
            <a:endParaRPr sz="2200">
              <a:solidFill>
                <a:srgbClr val="666666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pt-BR" sz="2400">
                <a:solidFill>
                  <a:schemeClr val="dk1"/>
                </a:solidFill>
              </a:rPr>
              <a:t>TEXT</a:t>
            </a:r>
            <a:endParaRPr sz="22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10"/>
              <a:buNone/>
            </a:pPr>
            <a:r>
              <a:t/>
            </a:r>
            <a:endParaRPr i="1" sz="24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sp>
        <p:nvSpPr>
          <p:cNvPr id="65" name="Google Shape;65;g3f7877d611d_0_459"/>
          <p:cNvSpPr txBox="1"/>
          <p:nvPr>
            <p:ph type="title"/>
          </p:nvPr>
        </p:nvSpPr>
        <p:spPr>
          <a:xfrm>
            <a:off x="504000" y="226080"/>
            <a:ext cx="9071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pt-BR"/>
              <a:t>TITLE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2026-03-01T13:47:04Z</dcterms:created>
</cp:coreProperties>
</file>